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786" r:id="rId2"/>
    <p:sldId id="787" r:id="rId3"/>
    <p:sldId id="256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104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6AF8F6-1F37-4398-AD74-DAFD3B49C3A3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237753-F2FD-4E86-8B1A-7B97B81AD77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725462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C91D0-068C-81D0-1966-8A30E6D46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BA16B-F44C-814B-949E-7721B95D3E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0DBA76-E618-9788-CE1D-71BA097C79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     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B71BFF-D786-C5D2-C25B-18DF030C74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6F231F-2C4E-BA45-BAC4-3FA1ED6D02FA}" type="slidenum">
              <a:rPr lang="fr-CA" smtClean="0"/>
              <a:pPr/>
              <a:t>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32077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FD04D-CD73-A13C-2C36-5392DFA94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5A15CD-CD2B-3633-0681-04FE33526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35804C-AC39-92C6-3697-C7E6F54E9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     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6BA83A-ACF7-8B2F-822B-F401AA8180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6F231F-2C4E-BA45-BAC4-3FA1ED6D02FA}" type="slidenum">
              <a:rPr lang="fr-CA" smtClean="0"/>
              <a:pPr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37048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3CA5D-66C6-6BC3-7E72-859CF7C845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815951-815E-A6FB-7F0C-7BF030118E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DD6E4-D5D9-F493-BC59-F8F24DE99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C8F8-6525-4465-81C0-71FF039E84F7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56D73-2592-B7E3-72C2-D16930767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658B15-E66D-B0A0-5FFA-755D17F82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51B63-20B6-4EE2-9B18-DA8750E6259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10933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05735-97E7-C760-2418-38A9F2D4F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80FBF6-5FA9-B766-49E6-A472678695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6CEAF7-E201-D760-D03D-8693A6C47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C8F8-6525-4465-81C0-71FF039E84F7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F199FD-DF5A-FD27-1C33-50BA9C21D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63B03-D4EB-70C6-642A-4CC48FF8E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51B63-20B6-4EE2-9B18-DA8750E6259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23885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38165-393A-F8E3-38C3-C1D31FEC9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28F4DE-7E34-5DB4-C04B-48CEDA01C2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FD3A3D-4BE1-6475-A05D-69D97E357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C8F8-6525-4465-81C0-71FF039E84F7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2FBB19-F9CB-60D5-9790-A28B315A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0E1AA2-1E9C-28D2-D9F7-5DF464CA6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51B63-20B6-4EE2-9B18-DA8750E6259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54805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A9A5F-623B-7FB1-F01B-BDDF01AA2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32E7C-8795-F732-6E95-2107E87C26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5FC1F0-DDA0-332F-D6BF-3013618720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037411-7862-69C0-202D-043EBF117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C8F8-6525-4465-81C0-71FF039E84F7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C147ED-8B49-9384-22BA-493ED63DE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B1075E-522D-842A-DDA7-D512164D5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51B63-20B6-4EE2-9B18-DA8750E6259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69459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BC9C-21AA-15CB-2373-90431B8FA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EA3F4F-7F71-6A1B-2A13-0D60E0B0A7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9743D4-197C-794C-655B-389B24F6A1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924B86-DC1B-0C7B-12A5-5CE6E3B122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8BDFE3-DE14-B05D-0E4F-14636F398C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B1A000-77C2-E44C-E1C4-8E1FCA3315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C8F8-6525-4465-81C0-71FF039E84F7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AB1271-6BD0-55BE-3557-D19F858E9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78B0CD-9628-F281-1AB9-F22E4C4D4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51B63-20B6-4EE2-9B18-DA8750E6259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9460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9E126-9C2D-A568-01C0-F9455D851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D12AD1-582B-1E26-1AE1-A319AB366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C8F8-6525-4465-81C0-71FF039E84F7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BF0C3F-7A67-9811-F371-B4F1FC4C1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2D0B44-1ECE-AA00-5FA6-33BB02239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51B63-20B6-4EE2-9B18-DA8750E6259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86044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6C1B75-05F4-B4E2-A8ED-56BA42085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C8F8-6525-4465-81C0-71FF039E84F7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DCAEAA-4C8E-5B16-A8C9-B3DFB0B9F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F34DCD-08CF-564C-544F-92CA52DCD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51B63-20B6-4EE2-9B18-DA8750E6259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72066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C79E6-9A3C-08D1-63FA-E6CD257B5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00C78-2EE9-760D-FF12-5C9224902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70600C-3D8C-9239-347B-8F6DF7C639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475D5B-8CA4-5A49-2D02-0154D7BD9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C8F8-6525-4465-81C0-71FF039E84F7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97BAE4-18FD-65A1-72DE-02377F529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CA0F55-A9E9-E6D9-0796-F85226C01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51B63-20B6-4EE2-9B18-DA8750E6259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38098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931D1-BE69-9453-D656-72AA224B1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B7A5D7-191C-5673-16FA-089CB6E1B1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8786B1-81F0-39AB-D8E3-62EF990CEB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D3FF9F-DFFC-C5DF-153A-24888045D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C8F8-6525-4465-81C0-71FF039E84F7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0C794A-E54C-8BA3-6B28-1072C6C93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40F8EE-8A8A-EC8D-D922-CB3B0E851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51B63-20B6-4EE2-9B18-DA8750E6259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49535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F9F80-2BD0-F263-15FA-D9457E445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D7A304-BBB9-2A84-DBC7-2B2848C6AC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2D4FC8-4217-A3E2-94E4-FF1989AF4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C8F8-6525-4465-81C0-71FF039E84F7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F6C92C-E39C-221E-3E76-93E556D97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697283-8C09-888B-D73F-1C9B74CDE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51B63-20B6-4EE2-9B18-DA8750E6259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65959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EEB530B-D797-7C20-7C36-6BA0C1E352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2C5587-C033-D827-1556-DA2D418792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73311B-A587-47EC-06AB-586665FAB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C8F8-6525-4465-81C0-71FF039E84F7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B3C43-1240-DF72-164E-AA367004F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9C1B4-C349-54F0-134A-27CB0FB38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951B63-20B6-4EE2-9B18-DA8750E6259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079227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.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BB2F2-7DF4-4247-B7F4-C49F7EF7E9E1}" type="datetime1">
              <a:rPr lang="fr-FR" smtClean="0"/>
              <a:t>09/04/2026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A"/>
              <a:t>Bureau d'appui pédagogique</a:t>
            </a:r>
            <a:endParaRPr lang="fr-CA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AFE73-B4CD-4A9A-A1F8-B2B1D914CB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Espace réservé du contenu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 dirty="0"/>
          </a:p>
        </p:txBody>
      </p:sp>
      <p:sp>
        <p:nvSpPr>
          <p:cNvPr id="7" name="Titre 1"/>
          <p:cNvSpPr>
            <a:spLocks noGrp="1"/>
          </p:cNvSpPr>
          <p:nvPr>
            <p:ph type="title"/>
          </p:nvPr>
        </p:nvSpPr>
        <p:spPr>
          <a:xfrm>
            <a:off x="762000" y="381000"/>
            <a:ext cx="10515600" cy="609600"/>
          </a:xfrm>
          <a:prstGeom prst="rect">
            <a:avLst/>
          </a:prstGeom>
        </p:spPr>
        <p:txBody>
          <a:bodyPr lIns="108000" tIns="36000" rIns="108000" bIns="36000">
            <a:noAutofit/>
          </a:bodyPr>
          <a:lstStyle>
            <a:lvl1pPr>
              <a:defRPr sz="320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fr-FR" dirty="0"/>
              <a:t>Modifiez le style du titre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194561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535A29-1D18-75F0-E435-052A2845F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AEBB5D-043A-11FB-FFC7-05D79A211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F9E60F-66F4-6C11-5BBF-13DCBDEEF3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C2C8F8-6525-4465-81C0-71FF039E84F7}" type="datetimeFigureOut">
              <a:rPr lang="en-CA" smtClean="0"/>
              <a:t>2026-04-09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4D3AE4-E7A3-B667-5161-2F1F41CEE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133FAA-12DB-426A-2AD5-A7B4EB9D42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951B63-20B6-4EE2-9B18-DA8750E6259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349377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sv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44FAE-D0AC-3C1E-FBB8-1D270D35C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D60A53-6ED4-2CAB-BF86-543F72097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AFE73-B4CD-4A9A-A1F8-B2B1D914CB4A}" type="slidenum">
              <a:rPr lang="en-US" sz="14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</a:t>
            </a:fld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AD2DF86-F908-1E25-223A-CEFC081E1CB2}"/>
              </a:ext>
            </a:extLst>
          </p:cNvPr>
          <p:cNvSpPr txBox="1"/>
          <p:nvPr/>
        </p:nvSpPr>
        <p:spPr>
          <a:xfrm>
            <a:off x="12396345" y="348645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F3E40D7-BD97-1349-76A1-5B0156580D2B}"/>
              </a:ext>
            </a:extLst>
          </p:cNvPr>
          <p:cNvGrpSpPr/>
          <p:nvPr/>
        </p:nvGrpSpPr>
        <p:grpSpPr>
          <a:xfrm>
            <a:off x="1117963" y="717977"/>
            <a:ext cx="5625191" cy="4262061"/>
            <a:chOff x="2024744" y="824290"/>
            <a:chExt cx="5625191" cy="4262061"/>
          </a:xfrm>
        </p:grpSpPr>
        <p:pic>
          <p:nvPicPr>
            <p:cNvPr id="101" name="Graphic 100" descr="Back RTL">
              <a:extLst>
                <a:ext uri="{FF2B5EF4-FFF2-40B4-BE49-F238E27FC236}">
                  <a16:creationId xmlns:a16="http://schemas.microsoft.com/office/drawing/2014/main" id="{4647C95B-694F-F2E7-91F9-9620D2506338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68310">
              <a:off x="3746409" y="2499736"/>
              <a:ext cx="649024" cy="543728"/>
            </a:xfrm>
            <a:prstGeom prst="rect">
              <a:avLst/>
            </a:prstGeom>
          </p:spPr>
        </p:pic>
        <p:sp>
          <p:nvSpPr>
            <p:cNvPr id="99" name="Rectangle: Rounded Corners 152">
              <a:extLst>
                <a:ext uri="{FF2B5EF4-FFF2-40B4-BE49-F238E27FC236}">
                  <a16:creationId xmlns:a16="http://schemas.microsoft.com/office/drawing/2014/main" id="{BF428F11-58EE-2039-A054-68435A936581}"/>
                </a:ext>
              </a:extLst>
            </p:cNvPr>
            <p:cNvSpPr/>
            <p:nvPr/>
          </p:nvSpPr>
          <p:spPr>
            <a:xfrm>
              <a:off x="4073978" y="857251"/>
              <a:ext cx="3575957" cy="4229100"/>
            </a:xfrm>
            <a:prstGeom prst="roundRect">
              <a:avLst/>
            </a:prstGeom>
            <a:noFill/>
            <a:ln w="25400" cap="flat" cmpd="sng" algn="ctr">
              <a:solidFill>
                <a:sysClr val="windowText" lastClr="000000"/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just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410C969E-064C-9EE7-FBF4-DE50178A4172}"/>
                </a:ext>
              </a:extLst>
            </p:cNvPr>
            <p:cNvSpPr txBox="1"/>
            <p:nvPr/>
          </p:nvSpPr>
          <p:spPr>
            <a:xfrm>
              <a:off x="4626154" y="824290"/>
              <a:ext cx="2159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Arial" panose="020B0604020202020204" pitchFamily="34" charset="0"/>
                  <a:cs typeface="Arial" panose="020B0604020202020204" pitchFamily="34" charset="0"/>
                </a:rPr>
                <a:t>Inversion process</a:t>
              </a:r>
              <a:endParaRPr lang="en-US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" name="Rectangle: Rounded Corners 119">
              <a:extLst>
                <a:ext uri="{FF2B5EF4-FFF2-40B4-BE49-F238E27FC236}">
                  <a16:creationId xmlns:a16="http://schemas.microsoft.com/office/drawing/2014/main" id="{2D2E883E-E032-CE1A-E2D9-862148180827}"/>
                </a:ext>
              </a:extLst>
            </p:cNvPr>
            <p:cNvSpPr/>
            <p:nvPr/>
          </p:nvSpPr>
          <p:spPr>
            <a:xfrm>
              <a:off x="4307458" y="1212184"/>
              <a:ext cx="2885243" cy="435708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349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en-CA" altLang="zh-CN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Initialization of </a:t>
              </a:r>
              <a:r>
                <a:rPr lang="en-CA" altLang="zh-CN" sz="1200" i="1" dirty="0">
                  <a:latin typeface="Arial" panose="020B0604020202020204" pitchFamily="34" charset="0"/>
                  <a:cs typeface="Arial" panose="020B0604020202020204" pitchFamily="34" charset="0"/>
                </a:rPr>
                <a:t>Params</a:t>
              </a:r>
              <a:endParaRPr lang="en-US" sz="1200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: Rounded Corners 119">
                  <a:extLst>
                    <a:ext uri="{FF2B5EF4-FFF2-40B4-BE49-F238E27FC236}">
                      <a16:creationId xmlns:a16="http://schemas.microsoft.com/office/drawing/2014/main" id="{B0B33D62-0773-305F-AA0B-F3C3204EF69E}"/>
                    </a:ext>
                  </a:extLst>
                </p:cNvPr>
                <p:cNvSpPr/>
                <p:nvPr/>
              </p:nvSpPr>
              <p:spPr>
                <a:xfrm>
                  <a:off x="4300103" y="1906051"/>
                  <a:ext cx="2880908" cy="522888"/>
                </a:xfrm>
                <a:prstGeom prst="round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3492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r>
                    <a:rPr lang="en-CA" altLang="zh-CN" sz="1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Forward model: </a:t>
                  </a:r>
                </a:p>
                <a:p>
                  <a:pPr algn="ctr">
                    <a:defRPr/>
                  </a:pPr>
                  <a14:m>
                    <m:oMath xmlns:m="http://schemas.openxmlformats.org/officeDocument/2006/math">
                      <m:sSup>
                        <m:sSupPr>
                          <m:ctrlPr>
                            <a:rPr lang="en-CA" altLang="zh-CN" sz="1400" b="1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lang="en-US" altLang="zh-CN" sz="1400" b="1" i="1" dirty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𝑫</m:t>
                          </m:r>
                        </m:e>
                        <m:sup>
                          <m:r>
                            <a:rPr lang="en-CA" altLang="zh-CN" sz="1400" b="1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𝒔𝒊𝒎</m:t>
                          </m:r>
                        </m:sup>
                      </m:sSup>
                    </m:oMath>
                  </a14:m>
                  <a:r>
                    <a:rPr lang="en-CA" altLang="zh-CN" sz="1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en-CA" altLang="zh-CN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= </a:t>
                  </a:r>
                  <a:r>
                    <a:rPr lang="en-CA" altLang="zh-CN" sz="12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FEM</a:t>
                  </a:r>
                  <a:r>
                    <a:rPr lang="en-CA" altLang="zh-CN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</a:t>
                  </a:r>
                  <a:r>
                    <a:rPr lang="en-CA" altLang="zh-CN" sz="12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Params</a:t>
                  </a:r>
                  <a:r>
                    <a:rPr lang="en-CA" altLang="zh-CN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, Positions, </a:t>
                  </a:r>
                  <a:r>
                    <a:rPr lang="en-CA" altLang="zh-CN" sz="12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Ts</a:t>
                  </a:r>
                  <a:r>
                    <a:rPr lang="en-CA" altLang="zh-CN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  <a:endParaRPr lang="en-US" sz="12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" name="Rectangle: Rounded Corners 119">
                  <a:extLst>
                    <a:ext uri="{FF2B5EF4-FFF2-40B4-BE49-F238E27FC236}">
                      <a16:creationId xmlns:a16="http://schemas.microsoft.com/office/drawing/2014/main" id="{B0B33D62-0773-305F-AA0B-F3C3204EF6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0103" y="1906051"/>
                  <a:ext cx="2880908" cy="522888"/>
                </a:xfrm>
                <a:prstGeom prst="roundRect">
                  <a:avLst/>
                </a:prstGeom>
                <a:blipFill>
                  <a:blip r:embed="rId5"/>
                  <a:stretch>
                    <a:fillRect b="-3261"/>
                  </a:stretch>
                </a:blipFill>
                <a:ln w="3492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: Rounded Corners 119">
                  <a:extLst>
                    <a:ext uri="{FF2B5EF4-FFF2-40B4-BE49-F238E27FC236}">
                      <a16:creationId xmlns:a16="http://schemas.microsoft.com/office/drawing/2014/main" id="{23CC2B04-9E93-74FA-41E7-32C9D701070C}"/>
                    </a:ext>
                  </a:extLst>
                </p:cNvPr>
                <p:cNvSpPr/>
                <p:nvPr/>
              </p:nvSpPr>
              <p:spPr>
                <a:xfrm>
                  <a:off x="2024744" y="2558209"/>
                  <a:ext cx="1812270" cy="521186"/>
                </a:xfrm>
                <a:prstGeom prst="round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 w="3492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r>
                    <a:rPr lang="en-CA" altLang="zh-CN" sz="12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Observed Data:</a:t>
                  </a:r>
                  <a:r>
                    <a:rPr lang="en-US" altLang="zh-CN" sz="12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</a:p>
                <a:p>
                  <a:pPr algn="ctr">
                    <a:defRPr/>
                  </a:pPr>
                  <a14:m>
                    <m:oMath xmlns:m="http://schemas.openxmlformats.org/officeDocument/2006/math">
                      <m:sSup>
                        <m:sSupPr>
                          <m:ctrlPr>
                            <a:rPr lang="en-CA" altLang="zh-CN" sz="1400" b="1" i="1" dirty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lang="en-US" altLang="zh-CN" sz="1400" b="1" i="1" dirty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𝑫</m:t>
                          </m:r>
                        </m:e>
                        <m:sup>
                          <m:r>
                            <a:rPr lang="en-CA" altLang="zh-CN" sz="1400" b="1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𝑴𝒆𝒂𝒔</m:t>
                          </m:r>
                        </m:sup>
                      </m:sSup>
                    </m:oMath>
                  </a14:m>
                  <a:r>
                    <a:rPr lang="en-CA" altLang="zh-CN" sz="1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8" name="Rectangle: Rounded Corners 119">
                  <a:extLst>
                    <a:ext uri="{FF2B5EF4-FFF2-40B4-BE49-F238E27FC236}">
                      <a16:creationId xmlns:a16="http://schemas.microsoft.com/office/drawing/2014/main" id="{23CC2B04-9E93-74FA-41E7-32C9D701070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4744" y="2558209"/>
                  <a:ext cx="1812270" cy="521186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3492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6389D06-97D4-835B-22EE-68D5E739FA05}"/>
                </a:ext>
              </a:extLst>
            </p:cNvPr>
            <p:cNvCxnSpPr>
              <a:cxnSpLocks/>
            </p:cNvCxnSpPr>
            <p:nvPr/>
          </p:nvCxnSpPr>
          <p:spPr>
            <a:xfrm>
              <a:off x="5747449" y="2426468"/>
              <a:ext cx="2630" cy="263483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: Rounded Corners 119">
                  <a:extLst>
                    <a:ext uri="{FF2B5EF4-FFF2-40B4-BE49-F238E27FC236}">
                      <a16:creationId xmlns:a16="http://schemas.microsoft.com/office/drawing/2014/main" id="{5B535614-7B5B-9F0F-376D-051A8A3A62D3}"/>
                    </a:ext>
                  </a:extLst>
                </p:cNvPr>
                <p:cNvSpPr/>
                <p:nvPr/>
              </p:nvSpPr>
              <p:spPr>
                <a:xfrm>
                  <a:off x="4319148" y="2682564"/>
                  <a:ext cx="2861863" cy="574618"/>
                </a:xfrm>
                <a:prstGeom prst="round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492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r>
                    <a:rPr lang="en-US" altLang="zh-CN" sz="1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Loss:</a:t>
                  </a:r>
                </a:p>
                <a:p>
                  <a:pPr algn="ctr">
                    <a:defRPr/>
                  </a:pPr>
                  <a:r>
                    <a:rPr lang="en-CA" altLang="zh-CN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MSE =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CA" altLang="zh-CN" sz="120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r>
                            <a:rPr lang="en-CA" altLang="zh-CN" sz="1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CA" altLang="zh-CN" sz="120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CA" altLang="zh-CN" sz="1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CA" altLang="zh-CN" sz="1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𝑠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CA" altLang="zh-CN" sz="120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CA" altLang="zh-CN" sz="1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CA" altLang="zh-CN" sz="1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en-CA" altLang="zh-CN" sz="120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n-CA" altLang="zh-CN" sz="1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𝑖</m:t>
                          </m:r>
                          <m:r>
                            <a:rPr lang="en-CA" altLang="zh-CN" sz="1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n-CA" altLang="zh-CN" sz="12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CA" altLang="zh-CN" sz="12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CA" altLang="zh-CN" sz="12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𝑠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en-CA" altLang="zh-CN" sz="120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CA" altLang="zh-CN" sz="1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  <m:r>
                                <a:rPr lang="en-CA" altLang="zh-CN" sz="12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CA" altLang="zh-CN" sz="1200" i="1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CA" altLang="zh-CN" sz="1200" i="1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CA" altLang="zh-CN" sz="1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𝑡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en-CA" altLang="zh-CN" sz="120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CA" altLang="zh-CN" sz="1200" i="1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|</m:t>
                                  </m:r>
                                  <m:sSubSup>
                                    <m:sSubSupPr>
                                      <m:ctrlP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𝐷</m:t>
                                      </m:r>
                                    </m:e>
                                    <m:sub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𝑖</m:t>
                                      </m:r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,</m:t>
                                      </m:r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𝑆𝑖𝑚</m:t>
                                      </m:r>
                                    </m:sup>
                                  </m:sSubSup>
                                  <m:r>
                                    <a:rPr lang="en-CA" altLang="zh-CN" sz="1200" i="1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𝐷</m:t>
                                      </m:r>
                                    </m:e>
                                    <m:sub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𝑖</m:t>
                                      </m:r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,</m:t>
                                      </m:r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𝑀𝑒𝑎𝑠</m:t>
                                      </m:r>
                                    </m:sup>
                                  </m:sSubSup>
                                  <m:r>
                                    <a:rPr lang="en-CA" altLang="zh-CN" sz="1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|</m:t>
                                  </m:r>
                                </m:e>
                                <m:sup>
                                  <m:r>
                                    <a:rPr lang="en-CA" altLang="zh-CN" sz="1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a14:m>
                  <a:endParaRPr lang="en-US" sz="12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1" name="Rectangle: Rounded Corners 119">
                  <a:extLst>
                    <a:ext uri="{FF2B5EF4-FFF2-40B4-BE49-F238E27FC236}">
                      <a16:creationId xmlns:a16="http://schemas.microsoft.com/office/drawing/2014/main" id="{5B535614-7B5B-9F0F-376D-051A8A3A62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9148" y="2682564"/>
                  <a:ext cx="2861863" cy="574618"/>
                </a:xfrm>
                <a:prstGeom prst="roundRect">
                  <a:avLst/>
                </a:prstGeom>
                <a:blipFill>
                  <a:blip r:embed="rId7"/>
                  <a:stretch>
                    <a:fillRect t="-1000" b="-61000"/>
                  </a:stretch>
                </a:blipFill>
                <a:ln w="3492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Diamond 11">
              <a:extLst>
                <a:ext uri="{FF2B5EF4-FFF2-40B4-BE49-F238E27FC236}">
                  <a16:creationId xmlns:a16="http://schemas.microsoft.com/office/drawing/2014/main" id="{6744F1C1-EA1C-77D9-12CF-835039540945}"/>
                </a:ext>
              </a:extLst>
            </p:cNvPr>
            <p:cNvSpPr/>
            <p:nvPr/>
          </p:nvSpPr>
          <p:spPr>
            <a:xfrm>
              <a:off x="4323678" y="3510807"/>
              <a:ext cx="2847542" cy="506022"/>
            </a:xfrm>
            <a:prstGeom prst="diamond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CA" sz="1400" dirty="0">
                  <a:latin typeface="Arial" panose="020B0604020202020204" pitchFamily="34" charset="0"/>
                  <a:cs typeface="Arial" panose="020B0604020202020204" pitchFamily="34" charset="0"/>
                </a:rPr>
                <a:t>Convergent?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AB529BD-2E05-F673-0AB5-C227CAE76D24}"/>
                </a:ext>
              </a:extLst>
            </p:cNvPr>
            <p:cNvCxnSpPr>
              <a:cxnSpLocks/>
            </p:cNvCxnSpPr>
            <p:nvPr/>
          </p:nvCxnSpPr>
          <p:spPr>
            <a:xfrm>
              <a:off x="5737927" y="1629920"/>
              <a:ext cx="2630" cy="263483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4688B8F-B66B-0F7D-FEED-42E0D56D8803}"/>
                </a:ext>
              </a:extLst>
            </p:cNvPr>
            <p:cNvCxnSpPr>
              <a:cxnSpLocks/>
            </p:cNvCxnSpPr>
            <p:nvPr/>
          </p:nvCxnSpPr>
          <p:spPr>
            <a:xfrm>
              <a:off x="5757240" y="3257182"/>
              <a:ext cx="2630" cy="263483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33C08D2-761D-6301-65F5-23E28173ED26}"/>
                </a:ext>
              </a:extLst>
            </p:cNvPr>
            <p:cNvCxnSpPr>
              <a:cxnSpLocks/>
            </p:cNvCxnSpPr>
            <p:nvPr/>
          </p:nvCxnSpPr>
          <p:spPr>
            <a:xfrm>
              <a:off x="5759139" y="4016829"/>
              <a:ext cx="2630" cy="263483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Rectangle: Rounded Corners 119">
              <a:extLst>
                <a:ext uri="{FF2B5EF4-FFF2-40B4-BE49-F238E27FC236}">
                  <a16:creationId xmlns:a16="http://schemas.microsoft.com/office/drawing/2014/main" id="{C93655F4-9385-E360-9925-989403CEEE42}"/>
                </a:ext>
              </a:extLst>
            </p:cNvPr>
            <p:cNvSpPr/>
            <p:nvPr/>
          </p:nvSpPr>
          <p:spPr>
            <a:xfrm>
              <a:off x="4330838" y="4272925"/>
              <a:ext cx="2861863" cy="574618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349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en-US" altLang="zh-CN" sz="1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Para</a:t>
              </a:r>
              <a:r>
                <a:rPr lang="en-CA" altLang="zh-CN" sz="1400" b="1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ms</a:t>
              </a:r>
              <a:r>
                <a:rPr lang="en-CA" altLang="zh-CN" sz="1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CA" altLang="zh-CN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updating </a:t>
              </a:r>
            </a:p>
            <a:p>
              <a:pPr algn="ctr">
                <a:defRPr/>
              </a:pPr>
              <a:r>
                <a:rPr lang="en-CA" altLang="zh-CN" sz="1400" dirty="0">
                  <a:latin typeface="Arial" panose="020B0604020202020204" pitchFamily="34" charset="0"/>
                  <a:cs typeface="Arial" panose="020B0604020202020204" pitchFamily="34" charset="0"/>
                </a:rPr>
                <a:t>by the</a:t>
              </a:r>
              <a:r>
                <a:rPr lang="en-CA" altLang="zh-CN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CA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L-BFGS-B</a:t>
              </a:r>
              <a:r>
                <a:rPr lang="en-CA" sz="1200" dirty="0">
                  <a:latin typeface="Arial" panose="020B0604020202020204" pitchFamily="34" charset="0"/>
                  <a:cs typeface="Arial" panose="020B0604020202020204" pitchFamily="34" charset="0"/>
                </a:rPr>
                <a:t> algorithm</a:t>
              </a:r>
              <a:endParaRPr lang="en-US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875673F5-7CDC-C77A-2396-24D8527D3933}"/>
                </a:ext>
              </a:extLst>
            </p:cNvPr>
            <p:cNvCxnSpPr>
              <a:stCxn id="18" idx="3"/>
              <a:endCxn id="6" idx="3"/>
            </p:cNvCxnSpPr>
            <p:nvPr/>
          </p:nvCxnSpPr>
          <p:spPr>
            <a:xfrm flipH="1" flipV="1">
              <a:off x="7181011" y="2167495"/>
              <a:ext cx="11690" cy="2392739"/>
            </a:xfrm>
            <a:prstGeom prst="bentConnector3">
              <a:avLst>
                <a:gd name="adj1" fmla="val -2025346"/>
              </a:avLst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C6B12CC-6F44-E69D-92E4-7DC5CB2E1E45}"/>
                </a:ext>
              </a:extLst>
            </p:cNvPr>
            <p:cNvSpPr txBox="1"/>
            <p:nvPr/>
          </p:nvSpPr>
          <p:spPr>
            <a:xfrm>
              <a:off x="5705937" y="4014072"/>
              <a:ext cx="36580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dirty="0">
                  <a:latin typeface="Arial" panose="020B0604020202020204" pitchFamily="34" charset="0"/>
                  <a:cs typeface="Arial" panose="020B0604020202020204" pitchFamily="34" charset="0"/>
                </a:rPr>
                <a:t>No</a:t>
              </a:r>
              <a:endParaRPr lang="en-CA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7568716-B9CB-A158-61E6-662ECD1166B1}"/>
                </a:ext>
              </a:extLst>
            </p:cNvPr>
            <p:cNvSpPr txBox="1"/>
            <p:nvPr/>
          </p:nvSpPr>
          <p:spPr>
            <a:xfrm>
              <a:off x="3993198" y="3529771"/>
              <a:ext cx="45226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100" dirty="0">
                  <a:latin typeface="Arial" panose="020B0604020202020204" pitchFamily="34" charset="0"/>
                  <a:cs typeface="Arial" panose="020B0604020202020204" pitchFamily="34" charset="0"/>
                </a:rPr>
                <a:t>Yes</a:t>
              </a:r>
              <a:endParaRPr lang="en-CA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8A2FE5A-1E84-86EC-0417-4890D13437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37014" y="3763818"/>
              <a:ext cx="463089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: Rounded Corners 119">
                  <a:extLst>
                    <a:ext uri="{FF2B5EF4-FFF2-40B4-BE49-F238E27FC236}">
                      <a16:creationId xmlns:a16="http://schemas.microsoft.com/office/drawing/2014/main" id="{D8FAE9CA-A432-AC17-DBA8-352BB5F9BD9C}"/>
                    </a:ext>
                  </a:extLst>
                </p:cNvPr>
                <p:cNvSpPr/>
                <p:nvPr/>
              </p:nvSpPr>
              <p:spPr>
                <a:xfrm>
                  <a:off x="2024744" y="3510807"/>
                  <a:ext cx="1812270" cy="521186"/>
                </a:xfrm>
                <a:prstGeom prst="round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 w="3492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r>
                    <a:rPr lang="en-CA" altLang="zh-CN" sz="12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Inversion results: </a:t>
                  </a:r>
                </a:p>
                <a:p>
                  <a:pPr algn="ctr">
                    <a:defRPr/>
                  </a:pPr>
                  <a:r>
                    <a:rPr lang="en-US" altLang="zh-CN" sz="1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CA" altLang="zh-CN" sz="1400" b="1" i="1" dirty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CA" altLang="zh-CN" sz="1400" i="1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Params</m:t>
                          </m:r>
                        </m:e>
                        <m:sup>
                          <m:r>
                            <a:rPr lang="en-CA" altLang="zh-CN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∗</m:t>
                          </m:r>
                        </m:sup>
                      </m:sSup>
                    </m:oMath>
                  </a14:m>
                  <a:r>
                    <a:rPr lang="en-CA" altLang="zh-CN" sz="1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31" name="Rectangle: Rounded Corners 119">
                  <a:extLst>
                    <a:ext uri="{FF2B5EF4-FFF2-40B4-BE49-F238E27FC236}">
                      <a16:creationId xmlns:a16="http://schemas.microsoft.com/office/drawing/2014/main" id="{D8FAE9CA-A432-AC17-DBA8-352BB5F9BD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4744" y="3510807"/>
                  <a:ext cx="1812270" cy="521186"/>
                </a:xfrm>
                <a:prstGeom prst="round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 w="3492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793710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D5223-5F56-47E7-D05F-B51A7AF60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DFFEB7-66FE-8F0C-0E99-C7AC56CFA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AFE73-B4CD-4A9A-A1F8-B2B1D914CB4A}" type="slidenum">
              <a:rPr lang="en-US" sz="14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2</a:t>
            </a:fld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27085C4E-4D0D-ED0B-DD49-964BD8571BC3}"/>
              </a:ext>
            </a:extLst>
          </p:cNvPr>
          <p:cNvSpPr txBox="1"/>
          <p:nvPr/>
        </p:nvSpPr>
        <p:spPr>
          <a:xfrm>
            <a:off x="12396345" y="348645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F352EDE-4F06-66E8-A35C-03D25DBC4070}"/>
              </a:ext>
            </a:extLst>
          </p:cNvPr>
          <p:cNvGrpSpPr/>
          <p:nvPr/>
        </p:nvGrpSpPr>
        <p:grpSpPr>
          <a:xfrm>
            <a:off x="1117963" y="717977"/>
            <a:ext cx="5625191" cy="4262061"/>
            <a:chOff x="2024744" y="824290"/>
            <a:chExt cx="5625191" cy="4262061"/>
          </a:xfrm>
        </p:grpSpPr>
        <p:pic>
          <p:nvPicPr>
            <p:cNvPr id="101" name="Graphic 100" descr="Back RTL">
              <a:extLst>
                <a:ext uri="{FF2B5EF4-FFF2-40B4-BE49-F238E27FC236}">
                  <a16:creationId xmlns:a16="http://schemas.microsoft.com/office/drawing/2014/main" id="{7F95680D-0CF3-52F2-2118-6FF5811A478D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68310">
              <a:off x="3746409" y="2499736"/>
              <a:ext cx="649024" cy="543728"/>
            </a:xfrm>
            <a:prstGeom prst="rect">
              <a:avLst/>
            </a:prstGeom>
          </p:spPr>
        </p:pic>
        <p:sp>
          <p:nvSpPr>
            <p:cNvPr id="99" name="Rectangle: Rounded Corners 152">
              <a:extLst>
                <a:ext uri="{FF2B5EF4-FFF2-40B4-BE49-F238E27FC236}">
                  <a16:creationId xmlns:a16="http://schemas.microsoft.com/office/drawing/2014/main" id="{2193DCFD-CE7E-28D8-2194-3B44D9A250A5}"/>
                </a:ext>
              </a:extLst>
            </p:cNvPr>
            <p:cNvSpPr/>
            <p:nvPr/>
          </p:nvSpPr>
          <p:spPr>
            <a:xfrm>
              <a:off x="4073978" y="857251"/>
              <a:ext cx="3575957" cy="4229100"/>
            </a:xfrm>
            <a:prstGeom prst="roundRect">
              <a:avLst/>
            </a:prstGeom>
            <a:noFill/>
            <a:ln w="25400" cap="flat" cmpd="sng" algn="ctr">
              <a:solidFill>
                <a:sysClr val="windowText" lastClr="000000"/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just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23F11922-F770-3C7A-954C-272EC5FB0D0C}"/>
                </a:ext>
              </a:extLst>
            </p:cNvPr>
            <p:cNvSpPr txBox="1"/>
            <p:nvPr/>
          </p:nvSpPr>
          <p:spPr>
            <a:xfrm>
              <a:off x="4626154" y="824290"/>
              <a:ext cx="2159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Arial" panose="020B0604020202020204" pitchFamily="34" charset="0"/>
                  <a:cs typeface="Arial" panose="020B0604020202020204" pitchFamily="34" charset="0"/>
                </a:rPr>
                <a:t>Inversion process</a:t>
              </a:r>
              <a:endParaRPr lang="en-US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" name="Rectangle: Rounded Corners 119">
                  <a:extLst>
                    <a:ext uri="{FF2B5EF4-FFF2-40B4-BE49-F238E27FC236}">
                      <a16:creationId xmlns:a16="http://schemas.microsoft.com/office/drawing/2014/main" id="{FEAF6938-9783-EB21-5877-8AE7AF548739}"/>
                    </a:ext>
                  </a:extLst>
                </p:cNvPr>
                <p:cNvSpPr/>
                <p:nvPr/>
              </p:nvSpPr>
              <p:spPr>
                <a:xfrm>
                  <a:off x="4307458" y="1212184"/>
                  <a:ext cx="2885243" cy="435708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3492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r>
                    <a:rPr lang="en-CA" altLang="zh-CN" sz="12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Initialization of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altLang="zh-CN" sz="1600" i="1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λ</m:t>
                      </m:r>
                    </m:oMath>
                  </a14:m>
                  <a:endParaRPr lang="en-US" sz="1200" i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2" name="Rectangle: Rounded Corners 119">
                  <a:extLst>
                    <a:ext uri="{FF2B5EF4-FFF2-40B4-BE49-F238E27FC236}">
                      <a16:creationId xmlns:a16="http://schemas.microsoft.com/office/drawing/2014/main" id="{FEAF6938-9783-EB21-5877-8AE7AF54873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7458" y="1212184"/>
                  <a:ext cx="2885243" cy="435708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3492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ectangle: Rounded Corners 119">
                  <a:extLst>
                    <a:ext uri="{FF2B5EF4-FFF2-40B4-BE49-F238E27FC236}">
                      <a16:creationId xmlns:a16="http://schemas.microsoft.com/office/drawing/2014/main" id="{55432864-FDC6-FC31-F7D8-8B2E274A0581}"/>
                    </a:ext>
                  </a:extLst>
                </p:cNvPr>
                <p:cNvSpPr/>
                <p:nvPr/>
              </p:nvSpPr>
              <p:spPr>
                <a:xfrm>
                  <a:off x="4300103" y="1906051"/>
                  <a:ext cx="2880908" cy="522888"/>
                </a:xfrm>
                <a:prstGeom prst="round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3492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r>
                    <a:rPr lang="en-CA" altLang="zh-CN" sz="1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Forward model: </a:t>
                  </a:r>
                </a:p>
                <a:p>
                  <a:pPr algn="ctr">
                    <a:defRPr/>
                  </a:pPr>
                  <a14:m>
                    <m:oMath xmlns:m="http://schemas.openxmlformats.org/officeDocument/2006/math">
                      <m:sSup>
                        <m:sSupPr>
                          <m:ctrlPr>
                            <a:rPr lang="en-CA" altLang="zh-CN" sz="1400" b="1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lang="en-US" altLang="zh-CN" sz="1400" b="1" i="1" dirty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𝑫</m:t>
                          </m:r>
                        </m:e>
                        <m:sup>
                          <m:r>
                            <a:rPr lang="en-CA" altLang="zh-CN" sz="1400" b="1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𝒔𝒊𝒎</m:t>
                          </m:r>
                        </m:sup>
                      </m:sSup>
                    </m:oMath>
                  </a14:m>
                  <a:r>
                    <a:rPr lang="en-CA" altLang="zh-CN" sz="1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en-CA" altLang="zh-CN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= </a:t>
                  </a:r>
                  <a:r>
                    <a:rPr lang="en-CA" altLang="zh-CN" sz="12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FEM</a:t>
                  </a:r>
                  <a:r>
                    <a:rPr lang="en-CA" altLang="zh-CN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altLang="zh-CN" sz="160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λ</m:t>
                      </m:r>
                    </m:oMath>
                  </a14:m>
                  <a:r>
                    <a:rPr lang="en-CA" altLang="zh-CN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, </a:t>
                  </a:r>
                  <a:r>
                    <a:rPr lang="en-CA" altLang="zh-CN" sz="12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Pos</a:t>
                  </a:r>
                  <a:r>
                    <a:rPr lang="en-CA" altLang="zh-CN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, </a:t>
                  </a:r>
                  <a:r>
                    <a:rPr lang="en-CA" altLang="zh-CN" sz="12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Ts</a:t>
                  </a:r>
                  <a:r>
                    <a:rPr lang="en-CA" altLang="zh-CN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  <a:endParaRPr lang="en-US" sz="12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6" name="Rectangle: Rounded Corners 119">
                  <a:extLst>
                    <a:ext uri="{FF2B5EF4-FFF2-40B4-BE49-F238E27FC236}">
                      <a16:creationId xmlns:a16="http://schemas.microsoft.com/office/drawing/2014/main" id="{55432864-FDC6-FC31-F7D8-8B2E274A058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0103" y="1906051"/>
                  <a:ext cx="2880908" cy="522888"/>
                </a:xfrm>
                <a:prstGeom prst="roundRect">
                  <a:avLst/>
                </a:prstGeom>
                <a:blipFill>
                  <a:blip r:embed="rId5"/>
                  <a:stretch>
                    <a:fillRect b="-5435"/>
                  </a:stretch>
                </a:blipFill>
                <a:ln w="3492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: Rounded Corners 119">
                  <a:extLst>
                    <a:ext uri="{FF2B5EF4-FFF2-40B4-BE49-F238E27FC236}">
                      <a16:creationId xmlns:a16="http://schemas.microsoft.com/office/drawing/2014/main" id="{F3CED45C-4FE0-E999-DE9D-927D43BA3E7A}"/>
                    </a:ext>
                  </a:extLst>
                </p:cNvPr>
                <p:cNvSpPr/>
                <p:nvPr/>
              </p:nvSpPr>
              <p:spPr>
                <a:xfrm>
                  <a:off x="2024744" y="2558209"/>
                  <a:ext cx="1812270" cy="521186"/>
                </a:xfrm>
                <a:prstGeom prst="round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 w="3492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r>
                    <a:rPr lang="en-CA" altLang="zh-CN" sz="12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Observed Data:</a:t>
                  </a:r>
                  <a:r>
                    <a:rPr lang="en-US" altLang="zh-CN" sz="12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</a:p>
                <a:p>
                  <a:pPr algn="ctr">
                    <a:defRPr/>
                  </a:pPr>
                  <a14:m>
                    <m:oMath xmlns:m="http://schemas.openxmlformats.org/officeDocument/2006/math">
                      <m:sSup>
                        <m:sSupPr>
                          <m:ctrlPr>
                            <a:rPr lang="en-CA" altLang="zh-CN" sz="1400" b="1" i="1" dirty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lang="en-US" altLang="zh-CN" sz="1400" b="1" i="1" dirty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𝑫</m:t>
                          </m:r>
                        </m:e>
                        <m:sup>
                          <m:r>
                            <a:rPr lang="en-CA" altLang="zh-CN" sz="1400" b="1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𝑴𝒆𝒂𝒔</m:t>
                          </m:r>
                        </m:sup>
                      </m:sSup>
                    </m:oMath>
                  </a14:m>
                  <a:r>
                    <a:rPr lang="en-CA" altLang="zh-CN" sz="1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8" name="Rectangle: Rounded Corners 119">
                  <a:extLst>
                    <a:ext uri="{FF2B5EF4-FFF2-40B4-BE49-F238E27FC236}">
                      <a16:creationId xmlns:a16="http://schemas.microsoft.com/office/drawing/2014/main" id="{23CC2B04-9E93-74FA-41E7-32C9D701070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4744" y="2558209"/>
                  <a:ext cx="1812270" cy="521186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3492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57ADF70-5FE7-FADC-847D-A49093A680D5}"/>
                </a:ext>
              </a:extLst>
            </p:cNvPr>
            <p:cNvCxnSpPr>
              <a:cxnSpLocks/>
            </p:cNvCxnSpPr>
            <p:nvPr/>
          </p:nvCxnSpPr>
          <p:spPr>
            <a:xfrm>
              <a:off x="5747449" y="2426468"/>
              <a:ext cx="2630" cy="263483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: Rounded Corners 119">
                  <a:extLst>
                    <a:ext uri="{FF2B5EF4-FFF2-40B4-BE49-F238E27FC236}">
                      <a16:creationId xmlns:a16="http://schemas.microsoft.com/office/drawing/2014/main" id="{565206DD-5F3A-D337-D8C0-37834C59D14A}"/>
                    </a:ext>
                  </a:extLst>
                </p:cNvPr>
                <p:cNvSpPr/>
                <p:nvPr/>
              </p:nvSpPr>
              <p:spPr>
                <a:xfrm>
                  <a:off x="4319148" y="2682564"/>
                  <a:ext cx="2861863" cy="574618"/>
                </a:xfrm>
                <a:prstGeom prst="round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492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r>
                    <a:rPr lang="en-US" altLang="zh-CN" sz="1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Loss:</a:t>
                  </a:r>
                </a:p>
                <a:p>
                  <a:pPr algn="ctr">
                    <a:defRPr/>
                  </a:pPr>
                  <a:r>
                    <a:rPr lang="en-CA" altLang="zh-CN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MSE =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CA" altLang="zh-CN" sz="120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r>
                            <a:rPr lang="en-CA" altLang="zh-CN" sz="1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CA" altLang="zh-CN" sz="120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CA" altLang="zh-CN" sz="1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CA" altLang="zh-CN" sz="1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𝑠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CA" altLang="zh-CN" sz="120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CA" altLang="zh-CN" sz="1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CA" altLang="zh-CN" sz="1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en-CA" altLang="zh-CN" sz="120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n-CA" altLang="zh-CN" sz="1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𝑖</m:t>
                          </m:r>
                          <m:r>
                            <a:rPr lang="en-CA" altLang="zh-CN" sz="1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n-CA" altLang="zh-CN" sz="12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CA" altLang="zh-CN" sz="12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CA" altLang="zh-CN" sz="12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𝑠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en-CA" altLang="zh-CN" sz="120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CA" altLang="zh-CN" sz="12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  <m:r>
                                <a:rPr lang="en-CA" altLang="zh-CN" sz="1200" i="1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CA" altLang="zh-CN" sz="1200" i="1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CA" altLang="zh-CN" sz="1200" i="1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CA" altLang="zh-CN" sz="1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𝑡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en-CA" altLang="zh-CN" sz="120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CA" altLang="zh-CN" sz="1200" i="1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|</m:t>
                                  </m:r>
                                  <m:sSubSup>
                                    <m:sSubSupPr>
                                      <m:ctrlP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𝐷</m:t>
                                      </m:r>
                                    </m:e>
                                    <m:sub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𝑖</m:t>
                                      </m:r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,</m:t>
                                      </m:r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𝑆𝑖𝑚</m:t>
                                      </m:r>
                                    </m:sup>
                                  </m:sSubSup>
                                  <m:r>
                                    <a:rPr lang="en-CA" altLang="zh-CN" sz="1200" i="1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𝐷</m:t>
                                      </m:r>
                                    </m:e>
                                    <m:sub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𝑖</m:t>
                                      </m:r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,</m:t>
                                      </m:r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en-CA" altLang="zh-CN" sz="1200" i="1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𝑀𝑒𝑎𝑠</m:t>
                                      </m:r>
                                    </m:sup>
                                  </m:sSubSup>
                                  <m:r>
                                    <a:rPr lang="en-CA" altLang="zh-CN" sz="1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|</m:t>
                                  </m:r>
                                </m:e>
                                <m:sup>
                                  <m:r>
                                    <a:rPr lang="en-CA" altLang="zh-CN" sz="12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a14:m>
                  <a:endParaRPr lang="en-US" sz="12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1" name="Rectangle: Rounded Corners 119">
                  <a:extLst>
                    <a:ext uri="{FF2B5EF4-FFF2-40B4-BE49-F238E27FC236}">
                      <a16:creationId xmlns:a16="http://schemas.microsoft.com/office/drawing/2014/main" id="{5B535614-7B5B-9F0F-376D-051A8A3A62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9148" y="2682564"/>
                  <a:ext cx="2861863" cy="574618"/>
                </a:xfrm>
                <a:prstGeom prst="roundRect">
                  <a:avLst/>
                </a:prstGeom>
                <a:blipFill>
                  <a:blip r:embed="rId7"/>
                  <a:stretch>
                    <a:fillRect t="-1000" b="-61000"/>
                  </a:stretch>
                </a:blipFill>
                <a:ln w="3492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Diamond 11">
              <a:extLst>
                <a:ext uri="{FF2B5EF4-FFF2-40B4-BE49-F238E27FC236}">
                  <a16:creationId xmlns:a16="http://schemas.microsoft.com/office/drawing/2014/main" id="{29D33C8A-3BED-F568-14B7-998F63FDB448}"/>
                </a:ext>
              </a:extLst>
            </p:cNvPr>
            <p:cNvSpPr/>
            <p:nvPr/>
          </p:nvSpPr>
          <p:spPr>
            <a:xfrm>
              <a:off x="4323678" y="3510807"/>
              <a:ext cx="2847542" cy="506022"/>
            </a:xfrm>
            <a:prstGeom prst="diamond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CA" sz="1400" dirty="0">
                  <a:latin typeface="Arial" panose="020B0604020202020204" pitchFamily="34" charset="0"/>
                  <a:cs typeface="Arial" panose="020B0604020202020204" pitchFamily="34" charset="0"/>
                </a:rPr>
                <a:t>Convergent?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F81A4C3-3577-D1DC-3352-B7B2AF85E10C}"/>
                </a:ext>
              </a:extLst>
            </p:cNvPr>
            <p:cNvCxnSpPr>
              <a:cxnSpLocks/>
            </p:cNvCxnSpPr>
            <p:nvPr/>
          </p:nvCxnSpPr>
          <p:spPr>
            <a:xfrm>
              <a:off x="5737927" y="1629920"/>
              <a:ext cx="2630" cy="263483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251EFD8-66E7-29C4-1A86-8E501DCEB19F}"/>
                </a:ext>
              </a:extLst>
            </p:cNvPr>
            <p:cNvCxnSpPr>
              <a:cxnSpLocks/>
            </p:cNvCxnSpPr>
            <p:nvPr/>
          </p:nvCxnSpPr>
          <p:spPr>
            <a:xfrm>
              <a:off x="5757240" y="3257182"/>
              <a:ext cx="2630" cy="263483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BF62B24-044C-66C8-1A8C-FABC37DF5565}"/>
                </a:ext>
              </a:extLst>
            </p:cNvPr>
            <p:cNvCxnSpPr>
              <a:cxnSpLocks/>
            </p:cNvCxnSpPr>
            <p:nvPr/>
          </p:nvCxnSpPr>
          <p:spPr>
            <a:xfrm>
              <a:off x="5759139" y="4016829"/>
              <a:ext cx="2630" cy="263483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Rectangle: Rounded Corners 119">
              <a:extLst>
                <a:ext uri="{FF2B5EF4-FFF2-40B4-BE49-F238E27FC236}">
                  <a16:creationId xmlns:a16="http://schemas.microsoft.com/office/drawing/2014/main" id="{D7F7AA3C-7210-8B26-5455-1B1C3980FF15}"/>
                </a:ext>
              </a:extLst>
            </p:cNvPr>
            <p:cNvSpPr/>
            <p:nvPr/>
          </p:nvSpPr>
          <p:spPr>
            <a:xfrm>
              <a:off x="4330838" y="4272925"/>
              <a:ext cx="2861863" cy="574618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349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en-US" altLang="zh-CN" sz="1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Para</a:t>
              </a:r>
              <a:r>
                <a:rPr lang="en-CA" altLang="zh-CN" sz="1400" b="1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ms</a:t>
              </a:r>
              <a:r>
                <a:rPr lang="en-CA" altLang="zh-CN" sz="1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CA" altLang="zh-CN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updating </a:t>
              </a:r>
            </a:p>
            <a:p>
              <a:pPr algn="ctr">
                <a:defRPr/>
              </a:pPr>
              <a:r>
                <a:rPr lang="en-CA" altLang="zh-CN" sz="1400" dirty="0">
                  <a:latin typeface="Arial" panose="020B0604020202020204" pitchFamily="34" charset="0"/>
                  <a:cs typeface="Arial" panose="020B0604020202020204" pitchFamily="34" charset="0"/>
                </a:rPr>
                <a:t>by the</a:t>
              </a:r>
              <a:r>
                <a:rPr lang="en-CA" altLang="zh-CN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CA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L-BFGS-B</a:t>
              </a:r>
              <a:r>
                <a:rPr lang="en-CA" sz="1200" dirty="0">
                  <a:latin typeface="Arial" panose="020B0604020202020204" pitchFamily="34" charset="0"/>
                  <a:cs typeface="Arial" panose="020B0604020202020204" pitchFamily="34" charset="0"/>
                </a:rPr>
                <a:t> algorithm</a:t>
              </a:r>
              <a:endParaRPr lang="en-US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6B955786-3ACA-FE64-3B3F-35AD38400B10}"/>
                </a:ext>
              </a:extLst>
            </p:cNvPr>
            <p:cNvCxnSpPr>
              <a:stCxn id="18" idx="3"/>
              <a:endCxn id="6" idx="3"/>
            </p:cNvCxnSpPr>
            <p:nvPr/>
          </p:nvCxnSpPr>
          <p:spPr>
            <a:xfrm flipH="1" flipV="1">
              <a:off x="7181011" y="2167495"/>
              <a:ext cx="11690" cy="2392739"/>
            </a:xfrm>
            <a:prstGeom prst="bentConnector3">
              <a:avLst>
                <a:gd name="adj1" fmla="val -2025346"/>
              </a:avLst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2E8D997-8E73-1646-ED76-FDAC14CA65E2}"/>
                </a:ext>
              </a:extLst>
            </p:cNvPr>
            <p:cNvSpPr txBox="1"/>
            <p:nvPr/>
          </p:nvSpPr>
          <p:spPr>
            <a:xfrm>
              <a:off x="5705937" y="4014072"/>
              <a:ext cx="36580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dirty="0">
                  <a:latin typeface="Arial" panose="020B0604020202020204" pitchFamily="34" charset="0"/>
                  <a:cs typeface="Arial" panose="020B0604020202020204" pitchFamily="34" charset="0"/>
                </a:rPr>
                <a:t>No</a:t>
              </a:r>
              <a:endParaRPr lang="en-CA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96BB663-DD7A-8F35-C9C8-83DECC467FD3}"/>
                </a:ext>
              </a:extLst>
            </p:cNvPr>
            <p:cNvSpPr txBox="1"/>
            <p:nvPr/>
          </p:nvSpPr>
          <p:spPr>
            <a:xfrm>
              <a:off x="3993198" y="3529771"/>
              <a:ext cx="45226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100" dirty="0">
                  <a:latin typeface="Arial" panose="020B0604020202020204" pitchFamily="34" charset="0"/>
                  <a:cs typeface="Arial" panose="020B0604020202020204" pitchFamily="34" charset="0"/>
                </a:rPr>
                <a:t>Yes</a:t>
              </a:r>
              <a:endParaRPr lang="en-CA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D6FA1103-FF70-8B71-68EC-DDB22CF1BE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37014" y="3763818"/>
              <a:ext cx="463089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Rectangle: Rounded Corners 119">
                  <a:extLst>
                    <a:ext uri="{FF2B5EF4-FFF2-40B4-BE49-F238E27FC236}">
                      <a16:creationId xmlns:a16="http://schemas.microsoft.com/office/drawing/2014/main" id="{C3C79FFE-FE84-5F3D-7B15-9BC22B6ACBE8}"/>
                    </a:ext>
                  </a:extLst>
                </p:cNvPr>
                <p:cNvSpPr/>
                <p:nvPr/>
              </p:nvSpPr>
              <p:spPr>
                <a:xfrm>
                  <a:off x="2024744" y="3510807"/>
                  <a:ext cx="1812270" cy="521186"/>
                </a:xfrm>
                <a:prstGeom prst="round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 w="3492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r>
                    <a:rPr lang="en-CA" altLang="zh-CN" sz="12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Inversion results: </a:t>
                  </a:r>
                </a:p>
                <a:p>
                  <a:pPr algn="ctr">
                    <a:defRPr/>
                  </a:pPr>
                  <a:r>
                    <a:rPr lang="en-US" altLang="zh-CN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CA" altLang="zh-CN" b="1" i="1" dirty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altLang="zh-CN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λ</m:t>
                          </m:r>
                        </m:e>
                        <m:sup>
                          <m:r>
                            <a:rPr lang="en-CA" altLang="zh-CN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∗</m:t>
                          </m:r>
                        </m:sup>
                      </m:sSup>
                    </m:oMath>
                  </a14:m>
                  <a:r>
                    <a:rPr lang="en-CA" altLang="zh-CN" sz="1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</a:p>
              </p:txBody>
            </p:sp>
          </mc:Choice>
          <mc:Fallback>
            <p:sp>
              <p:nvSpPr>
                <p:cNvPr id="31" name="Rectangle: Rounded Corners 119">
                  <a:extLst>
                    <a:ext uri="{FF2B5EF4-FFF2-40B4-BE49-F238E27FC236}">
                      <a16:creationId xmlns:a16="http://schemas.microsoft.com/office/drawing/2014/main" id="{C3C79FFE-FE84-5F3D-7B15-9BC22B6ACB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4744" y="3510807"/>
                  <a:ext cx="1812270" cy="521186"/>
                </a:xfrm>
                <a:prstGeom prst="round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 w="3492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72174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F7019E1E-88D6-4FAC-BEFE-D9D49C072E31}"/>
              </a:ext>
            </a:extLst>
          </p:cNvPr>
          <p:cNvGrpSpPr/>
          <p:nvPr/>
        </p:nvGrpSpPr>
        <p:grpSpPr>
          <a:xfrm>
            <a:off x="62500" y="-106680"/>
            <a:ext cx="11868936" cy="8779591"/>
            <a:chOff x="62500" y="-106680"/>
            <a:chExt cx="11868936" cy="8779591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FF21274C-BF33-5B74-9209-76020B064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500" y="4283782"/>
              <a:ext cx="5934468" cy="4389129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954CA5B5-1FBF-0B95-511A-6F71032891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96968" y="4283781"/>
              <a:ext cx="5934468" cy="43891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6E70E20-2921-CDAA-C05E-BC88FA202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502" y="0"/>
              <a:ext cx="5934468" cy="4389129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B647D6CC-724E-1F92-D26F-4D86A21D092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83668" y="0"/>
              <a:ext cx="5934468" cy="4389129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A9FD270-F084-1225-D767-ADC8CA8168E4}"/>
                </a:ext>
              </a:extLst>
            </p:cNvPr>
            <p:cNvSpPr txBox="1"/>
            <p:nvPr/>
          </p:nvSpPr>
          <p:spPr>
            <a:xfrm>
              <a:off x="110394" y="-106680"/>
              <a:ext cx="5269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(a)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50E762F-C769-7354-6789-F8513098C843}"/>
                </a:ext>
              </a:extLst>
            </p:cNvPr>
            <p:cNvSpPr txBox="1"/>
            <p:nvPr/>
          </p:nvSpPr>
          <p:spPr>
            <a:xfrm>
              <a:off x="5996968" y="-106680"/>
              <a:ext cx="53732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(b)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DA05882-574B-86C5-A5AB-AC8801E79C63}"/>
                </a:ext>
              </a:extLst>
            </p:cNvPr>
            <p:cNvSpPr txBox="1"/>
            <p:nvPr/>
          </p:nvSpPr>
          <p:spPr>
            <a:xfrm>
              <a:off x="5996968" y="4177101"/>
              <a:ext cx="53732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(d)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0CAFE5C-C364-43BB-FF28-AF0FCB50A14C}"/>
                </a:ext>
              </a:extLst>
            </p:cNvPr>
            <p:cNvSpPr txBox="1"/>
            <p:nvPr/>
          </p:nvSpPr>
          <p:spPr>
            <a:xfrm>
              <a:off x="100006" y="4177101"/>
              <a:ext cx="53732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(c)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751016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112</Words>
  <Application>Microsoft Office PowerPoint</Application>
  <PresentationFormat>Widescreen</PresentationFormat>
  <Paragraphs>42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tt41817</dc:creator>
  <cp:lastModifiedBy>tt41817</cp:lastModifiedBy>
  <cp:revision>4</cp:revision>
  <dcterms:created xsi:type="dcterms:W3CDTF">2026-03-23T18:28:36Z</dcterms:created>
  <dcterms:modified xsi:type="dcterms:W3CDTF">2026-04-09T15:04:59Z</dcterms:modified>
</cp:coreProperties>
</file>